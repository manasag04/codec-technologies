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481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481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481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481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981199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1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82561" y="0"/>
                </a:lnTo>
                <a:lnTo>
                  <a:pt x="182561" y="6857999"/>
                </a:lnTo>
                <a:close/>
              </a:path>
            </a:pathLst>
          </a:custGeom>
          <a:solidFill>
            <a:srgbClr val="2E5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1200"/>
            <a:ext cx="1366520" cy="508000"/>
          </a:xfrm>
          <a:custGeom>
            <a:avLst/>
            <a:gdLst/>
            <a:ahLst/>
            <a:cxnLst/>
            <a:rect l="l" t="t" r="r" b="b"/>
            <a:pathLst>
              <a:path w="1366520" h="508000">
                <a:moveTo>
                  <a:pt x="1120216" y="507999"/>
                </a:moveTo>
                <a:lnTo>
                  <a:pt x="1019862" y="507999"/>
                </a:lnTo>
                <a:lnTo>
                  <a:pt x="0" y="504850"/>
                </a:lnTo>
                <a:lnTo>
                  <a:pt x="0" y="0"/>
                </a:lnTo>
                <a:lnTo>
                  <a:pt x="1115404" y="2438"/>
                </a:lnTo>
                <a:lnTo>
                  <a:pt x="1120216" y="7162"/>
                </a:lnTo>
                <a:lnTo>
                  <a:pt x="1124855" y="7162"/>
                </a:lnTo>
                <a:lnTo>
                  <a:pt x="1124855" y="11988"/>
                </a:lnTo>
                <a:lnTo>
                  <a:pt x="1129839" y="11988"/>
                </a:lnTo>
                <a:lnTo>
                  <a:pt x="1358899" y="240893"/>
                </a:lnTo>
                <a:lnTo>
                  <a:pt x="1364216" y="248049"/>
                </a:lnTo>
                <a:lnTo>
                  <a:pt x="1365988" y="255200"/>
                </a:lnTo>
                <a:lnTo>
                  <a:pt x="1364216" y="262360"/>
                </a:lnTo>
                <a:lnTo>
                  <a:pt x="1358899" y="269544"/>
                </a:lnTo>
                <a:lnTo>
                  <a:pt x="1129839" y="498449"/>
                </a:lnTo>
                <a:lnTo>
                  <a:pt x="1128292" y="500024"/>
                </a:lnTo>
                <a:lnTo>
                  <a:pt x="1126402" y="501649"/>
                </a:lnTo>
                <a:lnTo>
                  <a:pt x="1120216" y="507999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3037" y="0"/>
            <a:ext cx="1285874" cy="12096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9425" y="-7328"/>
            <a:ext cx="5532630" cy="12123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481A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26542" y="1768855"/>
            <a:ext cx="6460490" cy="2881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52360" y="6265481"/>
            <a:ext cx="2326163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981199" cy="6857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561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82561" y="0"/>
                  </a:lnTo>
                  <a:lnTo>
                    <a:pt x="182561" y="6857999"/>
                  </a:lnTo>
                  <a:close/>
                </a:path>
              </a:pathLst>
            </a:custGeom>
            <a:solidFill>
              <a:srgbClr val="2E53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4321266"/>
            <a:ext cx="1370965" cy="781050"/>
          </a:xfrm>
          <a:custGeom>
            <a:avLst/>
            <a:gdLst/>
            <a:ahLst/>
            <a:cxnLst/>
            <a:rect l="l" t="t" r="r" b="b"/>
            <a:pathLst>
              <a:path w="1370965" h="781050">
                <a:moveTo>
                  <a:pt x="974466" y="780958"/>
                </a:moveTo>
                <a:lnTo>
                  <a:pt x="0" y="780277"/>
                </a:lnTo>
                <a:lnTo>
                  <a:pt x="0" y="0"/>
                </a:lnTo>
                <a:lnTo>
                  <a:pt x="974466" y="3111"/>
                </a:lnTo>
                <a:lnTo>
                  <a:pt x="1002576" y="12405"/>
                </a:lnTo>
                <a:lnTo>
                  <a:pt x="1007260" y="12405"/>
                </a:lnTo>
                <a:lnTo>
                  <a:pt x="1007260" y="17169"/>
                </a:lnTo>
                <a:lnTo>
                  <a:pt x="1363661" y="368642"/>
                </a:lnTo>
                <a:lnTo>
                  <a:pt x="1368932" y="379833"/>
                </a:lnTo>
                <a:lnTo>
                  <a:pt x="1370689" y="391448"/>
                </a:lnTo>
                <a:lnTo>
                  <a:pt x="1368932" y="402186"/>
                </a:lnTo>
                <a:lnTo>
                  <a:pt x="1363661" y="410741"/>
                </a:lnTo>
                <a:lnTo>
                  <a:pt x="1007260" y="766899"/>
                </a:lnTo>
                <a:lnTo>
                  <a:pt x="1002576" y="766899"/>
                </a:lnTo>
                <a:lnTo>
                  <a:pt x="1002576" y="771586"/>
                </a:lnTo>
                <a:lnTo>
                  <a:pt x="998184" y="775027"/>
                </a:lnTo>
                <a:lnTo>
                  <a:pt x="992035" y="778029"/>
                </a:lnTo>
                <a:lnTo>
                  <a:pt x="984129" y="780153"/>
                </a:lnTo>
                <a:lnTo>
                  <a:pt x="974466" y="780958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300" y="42862"/>
            <a:ext cx="8153400" cy="859155"/>
          </a:xfrm>
          <a:custGeom>
            <a:avLst/>
            <a:gdLst/>
            <a:ahLst/>
            <a:cxnLst/>
            <a:rect l="l" t="t" r="r" b="b"/>
            <a:pathLst>
              <a:path w="8153400" h="859155">
                <a:moveTo>
                  <a:pt x="8153399" y="858836"/>
                </a:moveTo>
                <a:lnTo>
                  <a:pt x="0" y="858836"/>
                </a:lnTo>
                <a:lnTo>
                  <a:pt x="0" y="0"/>
                </a:lnTo>
                <a:lnTo>
                  <a:pt x="8153399" y="0"/>
                </a:lnTo>
                <a:lnTo>
                  <a:pt x="8153399" y="858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869315" algn="ctr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0070C0"/>
                </a:solidFill>
                <a:latin typeface="Cambria"/>
                <a:cs typeface="Cambria"/>
              </a:rPr>
              <a:t>DAYANANDA</a:t>
            </a:r>
            <a:r>
              <a:rPr sz="2400" spc="-3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70C0"/>
                </a:solidFill>
                <a:latin typeface="Cambria"/>
                <a:cs typeface="Cambria"/>
              </a:rPr>
              <a:t>SAGAR</a:t>
            </a:r>
            <a:r>
              <a:rPr sz="2400" spc="-3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ambria"/>
                <a:cs typeface="Cambria"/>
              </a:rPr>
              <a:t>UNIVERSITY</a:t>
            </a:r>
            <a:endParaRPr sz="2400">
              <a:latin typeface="Cambria"/>
              <a:cs typeface="Cambria"/>
            </a:endParaRPr>
          </a:p>
          <a:p>
            <a:pPr marL="872490" algn="ctr">
              <a:lnSpc>
                <a:spcPct val="100000"/>
              </a:lnSpc>
              <a:spcBef>
                <a:spcPts val="415"/>
              </a:spcBef>
            </a:pPr>
            <a:r>
              <a:rPr sz="2000" dirty="0">
                <a:solidFill>
                  <a:srgbClr val="0D5572"/>
                </a:solidFill>
                <a:latin typeface="Cambria"/>
                <a:cs typeface="Cambria"/>
              </a:rPr>
              <a:t>SCHOOL</a:t>
            </a:r>
            <a:r>
              <a:rPr sz="2000" spc="-20" dirty="0">
                <a:solidFill>
                  <a:srgbClr val="0D5572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0D5572"/>
                </a:solidFill>
                <a:latin typeface="Cambria"/>
                <a:cs typeface="Cambria"/>
              </a:rPr>
              <a:t>OF</a:t>
            </a:r>
            <a:r>
              <a:rPr sz="2000" spc="-20" dirty="0">
                <a:solidFill>
                  <a:srgbClr val="0D5572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0D5572"/>
                </a:solidFill>
                <a:latin typeface="Cambria"/>
                <a:cs typeface="Cambria"/>
              </a:rPr>
              <a:t>ENGINEERING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4800" y="6074888"/>
            <a:ext cx="160019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b="1" dirty="0">
                <a:latin typeface="Arial"/>
                <a:cs typeface="Arial"/>
              </a:rPr>
              <a:t>Presented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B</a:t>
            </a:r>
            <a:r>
              <a:rPr lang="en-IN" sz="1800" b="1" spc="-50" dirty="0">
                <a:latin typeface="Arial"/>
                <a:cs typeface="Arial"/>
              </a:rPr>
              <a:t>y: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8000" y="6400800"/>
            <a:ext cx="35814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spc="-55" dirty="0">
                <a:latin typeface="Arial"/>
                <a:cs typeface="Arial"/>
              </a:rPr>
              <a:t>Punith Amilineni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</a:t>
            </a:r>
            <a:r>
              <a:rPr lang="en-IN" b="1" dirty="0">
                <a:latin typeface="Arial"/>
                <a:cs typeface="Arial"/>
              </a:rPr>
              <a:t>ENG22CS0399</a:t>
            </a:r>
            <a:r>
              <a:rPr sz="1800" b="1" spc="-20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686" y="4536439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DFFFF"/>
                </a:solid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28800" y="4013200"/>
            <a:ext cx="6578600" cy="2054361"/>
            <a:chOff x="1936750" y="4013200"/>
            <a:chExt cx="6470650" cy="2219960"/>
          </a:xfrm>
        </p:grpSpPr>
        <p:sp>
          <p:nvSpPr>
            <p:cNvPr id="14" name="object 14"/>
            <p:cNvSpPr/>
            <p:nvPr/>
          </p:nvSpPr>
          <p:spPr>
            <a:xfrm>
              <a:off x="1936750" y="4013200"/>
              <a:ext cx="6470650" cy="2219960"/>
            </a:xfrm>
            <a:custGeom>
              <a:avLst/>
              <a:gdLst/>
              <a:ahLst/>
              <a:cxnLst/>
              <a:rect l="l" t="t" r="r" b="b"/>
              <a:pathLst>
                <a:path w="6470650" h="2219960">
                  <a:moveTo>
                    <a:pt x="6349" y="0"/>
                  </a:moveTo>
                  <a:lnTo>
                    <a:pt x="6349" y="2219949"/>
                  </a:lnTo>
                </a:path>
                <a:path w="6470650" h="2219960">
                  <a:moveTo>
                    <a:pt x="3086099" y="0"/>
                  </a:moveTo>
                  <a:lnTo>
                    <a:pt x="3086099" y="2219949"/>
                  </a:lnTo>
                </a:path>
                <a:path w="6470650" h="2219960">
                  <a:moveTo>
                    <a:pt x="6464299" y="0"/>
                  </a:moveTo>
                  <a:lnTo>
                    <a:pt x="6464299" y="2219949"/>
                  </a:lnTo>
                </a:path>
                <a:path w="6470650" h="2219960">
                  <a:moveTo>
                    <a:pt x="0" y="6349"/>
                  </a:moveTo>
                  <a:lnTo>
                    <a:pt x="6470649" y="6349"/>
                  </a:lnTo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36750" y="6214099"/>
              <a:ext cx="6470650" cy="0"/>
            </a:xfrm>
            <a:custGeom>
              <a:avLst/>
              <a:gdLst/>
              <a:ahLst/>
              <a:cxnLst/>
              <a:rect l="l" t="t" r="r" b="b"/>
              <a:pathLst>
                <a:path w="6470650">
                  <a:moveTo>
                    <a:pt x="0" y="0"/>
                  </a:moveTo>
                  <a:lnTo>
                    <a:pt x="6470649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82525" y="3848987"/>
            <a:ext cx="3433975" cy="2262542"/>
          </a:xfrm>
          <a:prstGeom prst="rect">
            <a:avLst/>
          </a:prstGeom>
          <a:solidFill>
            <a:srgbClr val="353535"/>
          </a:solidFill>
        </p:spPr>
        <p:txBody>
          <a:bodyPr vert="horz" wrap="square" lIns="0" tIns="939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sz="18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INTERNAL</a:t>
            </a:r>
            <a:r>
              <a:rPr sz="18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GUIDE</a:t>
            </a:r>
            <a:endParaRPr sz="1800" dirty="0">
              <a:latin typeface="Times New Roman"/>
              <a:cs typeface="Times New Roman"/>
            </a:endParaRPr>
          </a:p>
          <a:p>
            <a:pPr marL="76200" marR="74295" algn="ctr">
              <a:lnSpc>
                <a:spcPct val="133300"/>
              </a:lnSpc>
            </a:pP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Asst</a:t>
            </a:r>
            <a:r>
              <a:rPr sz="1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Prof</a:t>
            </a:r>
            <a:r>
              <a:rPr lang="en-IN"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. Radhika. </a:t>
            </a:r>
            <a:r>
              <a:rPr lang="en-IN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K</a:t>
            </a:r>
            <a:endParaRPr lang="en-IN" sz="1800" b="1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76200" marR="74295" algn="ctr">
              <a:lnSpc>
                <a:spcPct val="133300"/>
              </a:lnSpc>
            </a:pP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Dept.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CSE</a:t>
            </a:r>
            <a:endParaRPr lang="en-IN" sz="1800" dirty="0">
              <a:latin typeface="Times New Roman"/>
              <a:cs typeface="Times New Roman"/>
            </a:endParaRPr>
          </a:p>
          <a:p>
            <a:pPr marL="327025" marR="421640" indent="100965">
              <a:lnSpc>
                <a:spcPts val="2880"/>
              </a:lnSpc>
              <a:spcBef>
                <a:spcPts val="215"/>
              </a:spcBef>
            </a:pPr>
            <a:r>
              <a:rPr lang="en-IN"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    School</a:t>
            </a:r>
            <a:r>
              <a:rPr lang="en-IN"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IN"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Engineering   </a:t>
            </a:r>
            <a:endParaRPr lang="en-IN" b="1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327025" marR="421640" indent="100965">
              <a:lnSpc>
                <a:spcPts val="2880"/>
              </a:lnSpc>
              <a:spcBef>
                <a:spcPts val="215"/>
              </a:spcBef>
            </a:pPr>
            <a:r>
              <a:rPr lang="en-IN"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       </a:t>
            </a:r>
            <a:r>
              <a:rPr lang="en-IN"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Dayananda </a:t>
            </a:r>
            <a:r>
              <a:rPr lang="en-IN"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Sagar</a:t>
            </a:r>
          </a:p>
          <a:p>
            <a:pPr marL="327025" marR="421640" indent="100965">
              <a:lnSpc>
                <a:spcPts val="2880"/>
              </a:lnSpc>
              <a:spcBef>
                <a:spcPts val="215"/>
              </a:spcBef>
            </a:pPr>
            <a:r>
              <a:rPr lang="en-IN"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              University          </a:t>
            </a:r>
            <a:endParaRPr lang="en-IN" sz="18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29200" y="3899705"/>
            <a:ext cx="3433975" cy="2211824"/>
          </a:xfrm>
          <a:prstGeom prst="rect">
            <a:avLst/>
          </a:prstGeom>
          <a:solidFill>
            <a:srgbClr val="353535"/>
          </a:solidFill>
        </p:spPr>
        <p:txBody>
          <a:bodyPr vert="horz" wrap="square" lIns="0" tIns="939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sz="18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EXTERNAL</a:t>
            </a:r>
            <a:r>
              <a:rPr sz="1800" b="1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GUIDE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IN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Jena Abhijit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IN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SAP Manager</a:t>
            </a:r>
            <a:endParaRPr lang="en-IN" spc="-1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IN" b="1" dirty="0">
                <a:solidFill>
                  <a:srgbClr val="FFFFFF"/>
                </a:solidFill>
                <a:latin typeface="Times New Roman"/>
                <a:cs typeface="Times New Roman"/>
              </a:rPr>
              <a:t>KOCH Business Solutions India</a:t>
            </a: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IN" b="1" dirty="0">
                <a:solidFill>
                  <a:srgbClr val="FFFFFF"/>
                </a:solidFill>
                <a:latin typeface="Times New Roman"/>
                <a:cs typeface="Times New Roman"/>
              </a:rPr>
              <a:t> PVT LTD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, Bangalore</a:t>
            </a:r>
            <a:endParaRPr lang="en-IN" sz="1800" b="1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798195" marR="790575" algn="ctr">
              <a:lnSpc>
                <a:spcPct val="66700"/>
              </a:lnSpc>
              <a:spcBef>
                <a:spcPts val="1440"/>
              </a:spcBef>
            </a:pPr>
            <a:endParaRPr lang="en-IN" sz="1800" b="1" spc="-1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0601" y="1205040"/>
            <a:ext cx="7472574" cy="2636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0D0D47"/>
                </a:solidFill>
                <a:latin typeface="Calibri"/>
                <a:cs typeface="Calibri"/>
              </a:rPr>
              <a:t>Department</a:t>
            </a:r>
            <a:r>
              <a:rPr sz="2800" b="1" spc="-80" dirty="0">
                <a:solidFill>
                  <a:srgbClr val="0D0D47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47"/>
                </a:solidFill>
                <a:latin typeface="Calibri"/>
                <a:cs typeface="Calibri"/>
              </a:rPr>
              <a:t>of</a:t>
            </a:r>
            <a:r>
              <a:rPr sz="2800" b="1" spc="-80" dirty="0">
                <a:solidFill>
                  <a:srgbClr val="0D0D47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47"/>
                </a:solidFill>
                <a:latin typeface="Calibri"/>
                <a:cs typeface="Calibri"/>
              </a:rPr>
              <a:t>Computer</a:t>
            </a:r>
            <a:r>
              <a:rPr sz="2800" b="1" spc="-80" dirty="0">
                <a:solidFill>
                  <a:srgbClr val="0D0D47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47"/>
                </a:solidFill>
                <a:latin typeface="Calibri"/>
                <a:cs typeface="Calibri"/>
              </a:rPr>
              <a:t>Science</a:t>
            </a:r>
            <a:r>
              <a:rPr sz="2800" b="1" spc="-80" dirty="0">
                <a:solidFill>
                  <a:srgbClr val="0D0D47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D0D47"/>
                </a:solidFill>
                <a:latin typeface="Calibri"/>
                <a:cs typeface="Calibri"/>
              </a:rPr>
              <a:t>and</a:t>
            </a:r>
            <a:r>
              <a:rPr sz="2800" b="1" spc="-80" dirty="0">
                <a:solidFill>
                  <a:srgbClr val="0D0D47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D0D47"/>
                </a:solidFill>
                <a:latin typeface="Calibri"/>
                <a:cs typeface="Calibri"/>
              </a:rPr>
              <a:t>Engineering</a:t>
            </a:r>
            <a:endParaRPr sz="2800" dirty="0">
              <a:latin typeface="Calibri"/>
              <a:cs typeface="Calibri"/>
            </a:endParaRPr>
          </a:p>
          <a:p>
            <a:pPr marL="2748280">
              <a:lnSpc>
                <a:spcPct val="100000"/>
              </a:lnSpc>
              <a:spcBef>
                <a:spcPts val="2680"/>
              </a:spcBef>
            </a:pPr>
            <a:r>
              <a:rPr sz="2400" b="1" spc="-10" dirty="0">
                <a:solidFill>
                  <a:srgbClr val="0070C0"/>
                </a:solidFill>
                <a:latin typeface="Calibri"/>
                <a:cs typeface="Calibri"/>
              </a:rPr>
              <a:t>INTERNSHIP</a:t>
            </a:r>
            <a:endParaRPr sz="24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2580"/>
              </a:spcBef>
            </a:pPr>
            <a:r>
              <a:rPr lang="en-IN" sz="2800" b="1" dirty="0">
                <a:solidFill>
                  <a:srgbClr val="420408"/>
                </a:solidFill>
                <a:latin typeface="Calibri"/>
                <a:cs typeface="Calibri"/>
              </a:rPr>
              <a:t>SAP Analyst Intern</a:t>
            </a:r>
            <a:endParaRPr sz="2800" dirty="0">
              <a:latin typeface="Calibri"/>
              <a:cs typeface="Calibri"/>
            </a:endParaRPr>
          </a:p>
          <a:p>
            <a:pPr marL="2753360">
              <a:lnSpc>
                <a:spcPct val="100000"/>
              </a:lnSpc>
              <a:spcBef>
                <a:spcPts val="2170"/>
              </a:spcBef>
            </a:pPr>
            <a:r>
              <a:rPr lang="en-IN" sz="1400" dirty="0">
                <a:latin typeface="Times New Roman"/>
                <a:cs typeface="Times New Roman"/>
              </a:rPr>
              <a:t>        </a:t>
            </a:r>
            <a:r>
              <a:rPr sz="1400" dirty="0">
                <a:latin typeface="Times New Roman"/>
                <a:cs typeface="Times New Roman"/>
              </a:rPr>
              <a:t>Internship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carried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out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at</a:t>
            </a:r>
            <a:endParaRPr lang="en-US" sz="1400" dirty="0">
              <a:latin typeface="Times New Roman"/>
              <a:cs typeface="Times New Roman"/>
            </a:endParaRPr>
          </a:p>
          <a:p>
            <a:pPr marL="2753360">
              <a:lnSpc>
                <a:spcPct val="100000"/>
              </a:lnSpc>
            </a:pPr>
            <a:r>
              <a:rPr lang="en-US" sz="1400" dirty="0">
                <a:latin typeface="Times New Roman"/>
                <a:cs typeface="Times New Roman"/>
              </a:rPr>
              <a:t>KOCH Business Solutions India PVT LTD</a:t>
            </a: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037" y="0"/>
            <a:ext cx="1285874" cy="12096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425" y="-7328"/>
            <a:ext cx="5532630" cy="1160086"/>
          </a:xfrm>
          <a:prstGeom prst="rect">
            <a:avLst/>
          </a:prstGeom>
        </p:spPr>
        <p:txBody>
          <a:bodyPr vert="horz" wrap="square" lIns="0" tIns="600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9398" y="1713293"/>
            <a:ext cx="4214495" cy="20320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85445" algn="l"/>
              </a:tabLst>
            </a:pPr>
            <a:r>
              <a:rPr sz="1800" b="1" dirty="0">
                <a:latin typeface="Times New Roman"/>
                <a:cs typeface="Times New Roman"/>
              </a:rPr>
              <a:t>About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Organization</a:t>
            </a:r>
            <a:endParaRPr sz="18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85445" algn="l"/>
              </a:tabLst>
            </a:pPr>
            <a:r>
              <a:rPr sz="1800" b="1" dirty="0">
                <a:latin typeface="Times New Roman"/>
                <a:cs typeface="Times New Roman"/>
              </a:rPr>
              <a:t>About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Department</a:t>
            </a:r>
            <a:endParaRPr sz="18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85445" algn="l"/>
              </a:tabLst>
            </a:pPr>
            <a:r>
              <a:rPr sz="1800" b="1" dirty="0">
                <a:latin typeface="Times New Roman"/>
                <a:cs typeface="Times New Roman"/>
              </a:rPr>
              <a:t>Internship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Domain</a:t>
            </a:r>
            <a:endParaRPr sz="18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85445" algn="l"/>
              </a:tabLst>
            </a:pPr>
            <a:r>
              <a:rPr sz="1800" b="1" dirty="0">
                <a:solidFill>
                  <a:schemeClr val="tx1"/>
                </a:solidFill>
                <a:latin typeface="Times New Roman"/>
                <a:cs typeface="Times New Roman"/>
              </a:rPr>
              <a:t>Introduction(Technology</a:t>
            </a: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1"/>
                </a:solidFill>
                <a:latin typeface="Times New Roman"/>
                <a:cs typeface="Times New Roman"/>
              </a:rPr>
              <a:t>&amp;</a:t>
            </a:r>
            <a:r>
              <a:rPr sz="1800" b="1"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1"/>
                </a:solidFill>
                <a:latin typeface="Times New Roman"/>
                <a:cs typeface="Times New Roman"/>
              </a:rPr>
              <a:t>Tool</a:t>
            </a: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Used)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85445" algn="l"/>
              </a:tabLst>
            </a:pPr>
            <a:r>
              <a:rPr sz="1800" b="1" dirty="0">
                <a:solidFill>
                  <a:schemeClr val="tx1"/>
                </a:solidFill>
                <a:latin typeface="Times New Roman"/>
                <a:cs typeface="Times New Roman"/>
              </a:rPr>
              <a:t>Problem</a:t>
            </a:r>
            <a:r>
              <a:rPr sz="1800" b="1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Statement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2137" y="6264941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2354" y="6200647"/>
            <a:ext cx="22618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Dept</a:t>
            </a:r>
            <a:r>
              <a:rPr sz="900" spc="-2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CSE.,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SOE-Dayananda</a:t>
            </a:r>
            <a:r>
              <a:rPr sz="9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888888"/>
                </a:solidFill>
                <a:latin typeface="Times New Roman"/>
                <a:cs typeface="Times New Roman"/>
              </a:rPr>
              <a:t>Sagar</a:t>
            </a:r>
            <a:r>
              <a:rPr sz="900" spc="-10" dirty="0">
                <a:solidFill>
                  <a:srgbClr val="888888"/>
                </a:solidFill>
                <a:latin typeface="Times New Roman"/>
                <a:cs typeface="Times New Roman"/>
              </a:rPr>
              <a:t> University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425" y="-7328"/>
            <a:ext cx="5532630" cy="1160086"/>
          </a:xfrm>
          <a:prstGeom prst="rect">
            <a:avLst/>
          </a:prstGeom>
        </p:spPr>
        <p:txBody>
          <a:bodyPr vert="horz" wrap="square" lIns="0" tIns="600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3000" y="1205039"/>
            <a:ext cx="7848599" cy="6409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Introduction</a:t>
            </a:r>
            <a:endParaRPr lang="en-IN" sz="1800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US" dirty="0"/>
              <a:t>		</a:t>
            </a:r>
            <a:r>
              <a:rPr lang="en-US" sz="1400" dirty="0"/>
              <a:t>A global business solutions organization delivering enterprise 				IT and operational excellence services as part of </a:t>
            </a:r>
            <a:r>
              <a:rPr lang="en-US" sz="1400" b="1" dirty="0" err="1"/>
              <a:t>koch</a:t>
            </a:r>
            <a:r>
              <a:rPr lang="en-US" sz="1400" b="1" dirty="0"/>
              <a:t> industries</a:t>
            </a:r>
            <a:r>
              <a:rPr lang="en-US" sz="1400" dirty="0"/>
              <a:t>.</a:t>
            </a:r>
            <a:endParaRPr lang="en-US"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tabLst>
                <a:tab pos="377825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Vision</a:t>
            </a:r>
            <a:endParaRPr lang="en-IN" sz="1800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lvl="6"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/>
              <a:t>	          To drive sustainable business growth through innovation, digital transformation,            </a:t>
            </a:r>
          </a:p>
          <a:p>
            <a:pPr marL="12700" lvl="6"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/>
              <a:t>		and value-based solutions</a:t>
            </a:r>
            <a:endParaRPr lang="en-US" sz="14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10"/>
              </a:spcBef>
              <a:buClr>
                <a:srgbClr val="353535"/>
              </a:buClr>
              <a:buFont typeface="Wingdings" panose="05000000000000000000" pitchFamily="2" charset="2"/>
              <a:buChar char="Ø"/>
            </a:pPr>
            <a:endParaRPr sz="180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Mission</a:t>
            </a:r>
            <a:endParaRPr lang="en-IN" sz="1800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/>
              <a:t>	          To enable global business units with efficient, scalable, and technology-driven 			solutions.</a:t>
            </a:r>
            <a:endParaRPr lang="en-US" sz="14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10"/>
              </a:spcBef>
              <a:buClr>
                <a:srgbClr val="353535"/>
              </a:buClr>
              <a:buFont typeface="Wingdings" panose="05000000000000000000" pitchFamily="2" charset="2"/>
              <a:buChar char="Ø"/>
            </a:pPr>
            <a:endParaRPr sz="180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Team</a:t>
            </a:r>
            <a:endParaRPr lang="en-IN" sz="1800" b="1" spc="-2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/>
              <a:t>		A cross-functional team of SAP consultants, analysts, and business experts 			collaborating to support enterprise operations.</a:t>
            </a:r>
            <a:endParaRPr lang="en-US" sz="14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00000"/>
              </a:lnSpc>
              <a:spcBef>
                <a:spcPts val="10"/>
              </a:spcBef>
              <a:buClr>
                <a:srgbClr val="353535"/>
              </a:buClr>
              <a:buFont typeface="Wingdings" panose="05000000000000000000" pitchFamily="2" charset="2"/>
              <a:buChar char="Ø"/>
            </a:pPr>
            <a:endParaRPr sz="180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Services</a:t>
            </a:r>
            <a:endParaRPr lang="en-IN" sz="1800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/>
              <a:t>		End-to-end SAP, supply chain planning, analytics, and business process support 			services</a:t>
            </a:r>
            <a:endParaRPr lang="en-IN" sz="1400" spc="-1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27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About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Department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0" y="1280629"/>
            <a:ext cx="7385048" cy="7504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Introduction</a:t>
            </a:r>
            <a:endParaRPr lang="en-IN" b="1" spc="-1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53535"/>
              </a:buClr>
            </a:pPr>
            <a:r>
              <a:rPr lang="en-US" sz="1400" dirty="0"/>
              <a:t>	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SAP IBP &amp; supply chain planning department focuses on enterprise-level 	planning solutions, ensuring seamless integration of demand, supply, and inventory 	processes across global business units.</a:t>
            </a: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53535"/>
              </a:buClr>
            </a:pPr>
            <a:endParaRPr lang="en-US" sz="140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IBP Planning Team</a:t>
            </a: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buClr>
                <a:srgbClr val="353535"/>
              </a:buClr>
              <a:tabLst>
                <a:tab pos="434975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The team consists of SAP IBP functional consultants, analysts, and business stakeholders 		who collaborate to manage forecasting, supply planning, and performance optimization.</a:t>
            </a: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53535"/>
              </a:buClr>
            </a:pPr>
            <a:endParaRPr sz="180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Planning Process (SAP IBP)</a:t>
            </a: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buClr>
                <a:srgbClr val="353535"/>
              </a:buClr>
              <a:tabLst>
                <a:tab pos="434975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		The department follows a structured planning cycle including data integration, statistical 			forecasting, forecast review, supply alignment, and KPI monitoring to ensure accurate and 		efficient decision-making.</a:t>
            </a: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z="1800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lang="en-IN" spc="-10" dirty="0">
              <a:latin typeface="Times New Roman"/>
              <a:cs typeface="Times New Roman"/>
            </a:endParaRPr>
          </a:p>
          <a:p>
            <a:pPr marL="434975" indent="-422275">
              <a:lnSpc>
                <a:spcPct val="100000"/>
              </a:lnSpc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43497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27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Internship</a:t>
            </a:r>
            <a:r>
              <a:rPr spc="-1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Domain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0" y="1524000"/>
            <a:ext cx="7162800" cy="6868547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1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Introduction</a:t>
            </a:r>
            <a:endParaRPr lang="en-IN" sz="1800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My internship domain is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planning &amp; enterprise resource planning 		(ERP)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focusing on cloud-based integrated business planning solutions to support 		global business operations</a:t>
            </a:r>
            <a:r>
              <a:rPr lang="en-US" dirty="0"/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Technology</a:t>
            </a:r>
            <a:endParaRPr lang="en-IN" sz="1800" b="1" spc="-1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/>
              <a:t>		The primary technology used is </a:t>
            </a:r>
            <a:r>
              <a:rPr lang="en-US" sz="1400" b="1" dirty="0"/>
              <a:t>SAP integrated business planning (SAP 		IBP)</a:t>
            </a:r>
            <a:r>
              <a:rPr lang="en-US" sz="1400" dirty="0"/>
              <a:t>, a cloud-based platform that integrates demand planning, supply planning, 		inventory optimization, and sales &amp; operations planning (S&amp;OP)</a:t>
            </a:r>
            <a:endParaRPr lang="en-US" sz="1400" dirty="0"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dirty="0">
                <a:solidFill>
                  <a:schemeClr val="tx1"/>
                </a:solidFill>
                <a:latin typeface="Times New Roman"/>
                <a:cs typeface="Times New Roman"/>
              </a:rPr>
              <a:t>Tool</a:t>
            </a:r>
            <a:r>
              <a:rPr sz="1800" b="1" spc="-5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Used</a:t>
            </a:r>
            <a:endParaRPr lang="en-IN" sz="1800" b="1" spc="-2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IN" sz="1400" dirty="0"/>
              <a:t>		SAP IBP excel add-in, </a:t>
            </a:r>
            <a:r>
              <a:rPr lang="en-IN" sz="1400" b="1" dirty="0" err="1"/>
              <a:t>microsoft</a:t>
            </a:r>
            <a:r>
              <a:rPr lang="en-IN" sz="1400" b="1" dirty="0"/>
              <a:t> excel</a:t>
            </a:r>
            <a:r>
              <a:rPr lang="en-IN" sz="1400" dirty="0"/>
              <a:t>, SAP S/4 HANA, Stone Branch and 		Sand box applications for data analysis, forecasting, planning model 			management, and KPI monitoring.</a:t>
            </a:r>
            <a:endParaRPr lang="en-IN" sz="1400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z="1800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z="1800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z="1800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lang="en-IN" spc="-2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425" y="-7328"/>
            <a:ext cx="5532630" cy="1162138"/>
          </a:xfrm>
          <a:prstGeom prst="rect">
            <a:avLst/>
          </a:prstGeom>
        </p:spPr>
        <p:txBody>
          <a:bodyPr vert="horz" wrap="square" lIns="0" tIns="602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47800" y="1371600"/>
            <a:ext cx="7239000" cy="47525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6395" algn="just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78460" algn="l"/>
                <a:tab pos="379730" algn="l"/>
              </a:tabLst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b="1" spc="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supply chain planning, inaccurate demand forecasts and inconsistent master data lead 	to supply-demand mismatches, excess inventory, or stock-outs, impacting overall 	business performance.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Manual data handling and limited real-time visibility reduce forecast reliability and 	impact strategic decision-making.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There is a need for an integrated, data-driven planning system to improve forecast 	accuracy, enhance visibility, and support efficient decision-making across business 	units.</a:t>
            </a:r>
          </a:p>
          <a:p>
            <a:endParaRPr lang="en-IN" spc="-25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optimization of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SAP integrated business planning (SAP IBP)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	enable real-time forecasting, collaborative planning, and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-driven supply chain 	management.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Established real-time data integration and visibility across planning areas to support 	faster and informed decision-making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/>
          </a:p>
          <a:p>
            <a:endParaRPr sz="1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9425" y="-7328"/>
            <a:ext cx="5532630" cy="1160086"/>
          </a:xfrm>
          <a:prstGeom prst="rect">
            <a:avLst/>
          </a:prstGeom>
        </p:spPr>
        <p:txBody>
          <a:bodyPr vert="horz" wrap="square" lIns="0" tIns="600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601" y="1280629"/>
            <a:ext cx="7467600" cy="422166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77825" indent="-365125">
              <a:lnSpc>
                <a:spcPct val="100000"/>
              </a:lnSpc>
              <a:spcBef>
                <a:spcPts val="11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18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sz="18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en-IN" sz="1800" b="1" spc="-1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organization uses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 integrated business planning (SAP IBP)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demand and supply 	planning; however, forecast variability and data inconsistencies create challenges in achieving 	optimal accuracy and inventory balance</a:t>
            </a: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1800" b="1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1800" b="1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sz="1800" b="1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b="1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endParaRPr lang="en-IN" sz="1800" b="1" spc="-25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Support planning activities by analyzing forecast data, validating master data, monitoring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	assisting in improving forecast accuracy through structured planning processes.</a:t>
            </a: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sz="1800" b="1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en-IN" sz="1800" b="1" spc="-1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Focus on demand planning activities including statistical forecasting, data validation, planning 	view analysis, and KPI tracking within SAP IBP.</a:t>
            </a:r>
          </a:p>
          <a:p>
            <a:pPr marL="377825" indent="-365125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buFont typeface="Wingdings" panose="05000000000000000000" pitchFamily="2" charset="2"/>
              <a:buChar char="Ø"/>
              <a:tabLst>
                <a:tab pos="377825" algn="l"/>
              </a:tabLst>
            </a:pPr>
            <a:r>
              <a:rPr sz="1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  <a:endParaRPr lang="en-IN" sz="1800" b="1" spc="-1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buClr>
                <a:srgbClr val="353535"/>
              </a:buClr>
              <a:tabLst>
                <a:tab pos="377825" algn="l"/>
              </a:tabLs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Accurate historical data is available, planning models are properly configured, and cross-functional 	collaboration supports the planning cycle.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>
              <a:lnSpc>
                <a:spcPct val="100000"/>
              </a:lnSpc>
            </a:pPr>
            <a:r>
              <a:rPr dirty="0"/>
              <a:t>Dept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CSE.,</a:t>
            </a:r>
            <a:r>
              <a:rPr spc="-10" dirty="0"/>
              <a:t> SOE-Dayananda</a:t>
            </a:r>
            <a:r>
              <a:rPr spc="-15" dirty="0"/>
              <a:t> </a:t>
            </a:r>
            <a:r>
              <a:rPr dirty="0"/>
              <a:t>Sagar</a:t>
            </a:r>
            <a:r>
              <a:rPr spc="-10" dirty="0"/>
              <a:t> University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63825" y="6267861"/>
            <a:ext cx="825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0" dirty="0">
                <a:solidFill>
                  <a:srgbClr val="888888"/>
                </a:solidFill>
                <a:latin typeface="Times New Roman"/>
                <a:cs typeface="Times New Roman"/>
              </a:rPr>
              <a:t>*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D2919-EE24-F37A-FFB7-8CECB3500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2200" y="2286000"/>
            <a:ext cx="5824832" cy="1600200"/>
          </a:xfrm>
        </p:spPr>
        <p:txBody>
          <a:bodyPr/>
          <a:lstStyle/>
          <a:p>
            <a:r>
              <a:rPr lang="en-IN" sz="8800" dirty="0"/>
              <a:t>THANKYOU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41A2650-5FD7-FCA6-FB11-6BEFFF822AE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68262"/>
            <a:ext cx="2057399" cy="533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CEE734-5BF4-FB2C-9D17-D9E29E246C63}"/>
              </a:ext>
            </a:extLst>
          </p:cNvPr>
          <p:cNvSpPr txBox="1"/>
          <p:nvPr/>
        </p:nvSpPr>
        <p:spPr>
          <a:xfrm>
            <a:off x="4038600" y="6248400"/>
            <a:ext cx="24384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sz="9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9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CSE.,</a:t>
            </a:r>
            <a:r>
              <a:rPr lang="en-US" sz="9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SOE-Dayananda</a:t>
            </a:r>
            <a:r>
              <a:rPr lang="en-US" sz="900" spc="-15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Sagar</a:t>
            </a:r>
            <a:r>
              <a:rPr lang="en-US" sz="90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61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Words>758</Words>
  <Application>Microsoft Office PowerPoint</Application>
  <PresentationFormat>On-screen Show (4:3)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Wingdings</vt:lpstr>
      <vt:lpstr>Office Theme</vt:lpstr>
      <vt:lpstr>DAYANANDA SAGAR UNIVERSITY SCHOOL OF ENGINEERING</vt:lpstr>
      <vt:lpstr>Overview</vt:lpstr>
      <vt:lpstr>About the Organization</vt:lpstr>
      <vt:lpstr>About the Department</vt:lpstr>
      <vt:lpstr>Internship Domain</vt:lpstr>
      <vt:lpstr>Problem Statement</vt:lpstr>
      <vt:lpstr>Introduction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Punith Chowdary</cp:lastModifiedBy>
  <cp:revision>4</cp:revision>
  <dcterms:created xsi:type="dcterms:W3CDTF">2026-02-22T06:09:57Z</dcterms:created>
  <dcterms:modified xsi:type="dcterms:W3CDTF">2026-02-22T11:06:42Z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2026-02-22T00:00:00Z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2026-02-22T00:00:00Z</vt:filetime>
  </property>
</Properties>
</file>